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1098bad5174939" /><Relationship Type="http://schemas.openxmlformats.org/officeDocument/2006/relationships/extended-properties" Target="/docProps/app.xml" Id="R968ec2bb07c6421b" /><Relationship Type="http://schemas.openxmlformats.org/officeDocument/2006/relationships/officeDocument" Target="/ppt/presentation.xml" Id="R0f6e5f78ac9b49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846b671dc64742"/>
  </p:sldMasterIdLst>
  <p:notesMasterIdLst>
    <p:notesMasterId xmlns:r="http://schemas.openxmlformats.org/officeDocument/2006/relationships" r:id="R8c40cd78d9154616"/>
  </p:notesMasterIdLst>
  <p:sldIdLst>
    <p:sldId xmlns:r="http://schemas.openxmlformats.org/officeDocument/2006/relationships" id="256" r:id="R447b8e5b0338438c"/>
    <p:sldId xmlns:r="http://schemas.openxmlformats.org/officeDocument/2006/relationships" id="257" r:id="R9621b258f51f43c8"/>
    <p:sldId xmlns:r="http://schemas.openxmlformats.org/officeDocument/2006/relationships" id="258" r:id="R7f6591bbd2324638"/>
    <p:sldId xmlns:r="http://schemas.openxmlformats.org/officeDocument/2006/relationships" id="259" r:id="R96f992edf74943bc"/>
    <p:sldId xmlns:r="http://schemas.openxmlformats.org/officeDocument/2006/relationships" id="260" r:id="R03be75f95b5c4dfc"/>
    <p:sldId xmlns:r="http://schemas.openxmlformats.org/officeDocument/2006/relationships" id="261" r:id="R32d4fd9f39c94b6b"/>
    <p:sldId xmlns:r="http://schemas.openxmlformats.org/officeDocument/2006/relationships" id="262" r:id="R1b2e7e800e504742"/>
    <p:sldId xmlns:r="http://schemas.openxmlformats.org/officeDocument/2006/relationships" id="263" r:id="R8e730bf137a44cad"/>
    <p:sldId xmlns:r="http://schemas.openxmlformats.org/officeDocument/2006/relationships" id="264" r:id="R9137f4d48b9841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73b23da8f441d" /><Relationship Type="http://schemas.openxmlformats.org/officeDocument/2006/relationships/slideMaster" Target="/ppt/slideMasters/slideMaster1.xml" Id="Re8846b671dc64742" /><Relationship Type="http://schemas.openxmlformats.org/officeDocument/2006/relationships/notesMaster" Target="/ppt/notesMasters/notesMaster1.xml" Id="R8c40cd78d9154616" /><Relationship Type="http://schemas.openxmlformats.org/officeDocument/2006/relationships/presProps" Target="/ppt/presProps.xml" Id="Ra2f754117ec44480" /><Relationship Type="http://schemas.openxmlformats.org/officeDocument/2006/relationships/tableStyles" Target="/ppt/tableStyles.xml" Id="R1109ad8c4662473d" /><Relationship Type="http://schemas.openxmlformats.org/officeDocument/2006/relationships/slide" Target="/ppt/slides/slide1.xml" Id="R447b8e5b0338438c" /><Relationship Type="http://schemas.openxmlformats.org/officeDocument/2006/relationships/slide" Target="/ppt/slides/slide2.xml" Id="R9621b258f51f43c8" /><Relationship Type="http://schemas.openxmlformats.org/officeDocument/2006/relationships/slide" Target="/ppt/slides/slide3.xml" Id="R7f6591bbd2324638" /><Relationship Type="http://schemas.openxmlformats.org/officeDocument/2006/relationships/slide" Target="/ppt/slides/slide4.xml" Id="R96f992edf74943bc" /><Relationship Type="http://schemas.openxmlformats.org/officeDocument/2006/relationships/slide" Target="/ppt/slides/slide5.xml" Id="R03be75f95b5c4dfc" /><Relationship Type="http://schemas.openxmlformats.org/officeDocument/2006/relationships/slide" Target="/ppt/slides/slide6.xml" Id="R32d4fd9f39c94b6b" /><Relationship Type="http://schemas.openxmlformats.org/officeDocument/2006/relationships/slide" Target="/ppt/slides/slide7.xml" Id="R1b2e7e800e504742" /><Relationship Type="http://schemas.openxmlformats.org/officeDocument/2006/relationships/slide" Target="/ppt/slides/slide8.xml" Id="R8e730bf137a44cad" /><Relationship Type="http://schemas.openxmlformats.org/officeDocument/2006/relationships/slide" Target="/ppt/slides/slide9.xml" Id="R9137f4d48b9841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ffc9fe52d04c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21f45f99fd4bd7" /><Relationship Type="http://schemas.openxmlformats.org/officeDocument/2006/relationships/notesMaster" Target="/ppt/notesMasters/notesMaster1.xml" Id="Re7d6098058d84d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72291659b74e06" /><Relationship Type="http://schemas.openxmlformats.org/officeDocument/2006/relationships/notesMaster" Target="/ppt/notesMasters/notesMaster1.xml" Id="Re884d8e8e65946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058594fb214ba4" /><Relationship Type="http://schemas.openxmlformats.org/officeDocument/2006/relationships/notesMaster" Target="/ppt/notesMasters/notesMaster1.xml" Id="R16f6ad4e46cd44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4bf16d4c83482d" /><Relationship Type="http://schemas.openxmlformats.org/officeDocument/2006/relationships/notesMaster" Target="/ppt/notesMasters/notesMaster1.xml" Id="R99a3f63ec55643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c7046fa9b3441b" /><Relationship Type="http://schemas.openxmlformats.org/officeDocument/2006/relationships/notesMaster" Target="/ppt/notesMasters/notesMaster1.xml" Id="R394d10dc4c864b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b236525245488b" /><Relationship Type="http://schemas.openxmlformats.org/officeDocument/2006/relationships/notesMaster" Target="/ppt/notesMasters/notesMaster1.xml" Id="R596e0557b04548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1bcda1363941bd" /><Relationship Type="http://schemas.openxmlformats.org/officeDocument/2006/relationships/notesMaster" Target="/ppt/notesMasters/notesMaster1.xml" Id="R8f623cca9ee44c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5f17e190b44031" /><Relationship Type="http://schemas.openxmlformats.org/officeDocument/2006/relationships/notesMaster" Target="/ppt/notesMasters/notesMaster1.xml" Id="R7596887062e442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c398c211ed4701" /><Relationship Type="http://schemas.openxmlformats.org/officeDocument/2006/relationships/notesMaster" Target="/ppt/notesMasters/notesMaster1.xml" Id="R02c72c0ac34c4f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/Volumes/Extreme Pro/Projects/Clients/StudioInTheBox/Speak to me/README.md</a:t>
            </a:r>
          </a:p>
          <a:p xmlns:a="http://schemas.openxmlformats.org/drawingml/2006/main">
            <a:r>
              <a:t>- /Volumes/Extreme Pro/Projects/Clients/StudioInTheBox/Speak to me/PRODUCT.md</a:t>
            </a:r>
          </a:p>
          <a:p xmlns:a="http://schemas.openxmlformats.org/drawingml/2006/main">
            <a:r>
              <a:t>- /private/tmp/murmur-installed-window-final.png (local product capture)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/Volumes/Extreme Pro/Projects/Clients/StudioInTheBox/Speak to me/Sources/MurmurYouTube/Core/DictationController.swift</a:t>
            </a:r>
          </a:p>
          <a:p xmlns:a="http://schemas.openxmlformats.org/drawingml/2006/main">
            <a:r>
              <a:t>- /Volumes/Extreme Pro/Projects/Clients/StudioInTheBox/Speak to me/Sources/MurmurYouTube/Core/HotkeyMonitor.swift</a:t>
            </a:r>
          </a:p>
          <a:p xmlns:a="http://schemas.openxmlformats.org/drawingml/2006/main">
            <a:r>
              <a:t>- /Volumes/Extreme Pro/Projects/Clients/StudioInTheBox/Speak to me/Sources/MurmurYouTube/UI/HUDPanel.swift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/Volumes/Extreme Pro/Projects/Clients/StudioInTheBox/Speak to me/Sources/MurmurYouTube/UI/SettingsWindow.swift</a:t>
            </a:r>
          </a:p>
          <a:p xmlns:a="http://schemas.openxmlformats.org/drawingml/2006/main">
            <a:r>
              <a:t>- /Volumes/Extreme Pro/Projects/Clients/StudioInTheBox/Speak to me/Sources/MurmurYouTube/Support/Permissions.swift</a:t>
            </a:r>
          </a:p>
          <a:p xmlns:a="http://schemas.openxmlformats.org/drawingml/2006/main">
            <a:r>
              <a:t>- /Volumes/Extreme Pro/Projects/Clients/StudioInTheBox/Speak to me/README.md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/Volumes/Extreme Pro/Projects/Clients/StudioInTheBox/Speak to me/Sources/MurmurYouTube/Transcription/AppleSpeechEngine.swift</a:t>
            </a:r>
          </a:p>
          <a:p xmlns:a="http://schemas.openxmlformats.org/drawingml/2006/main">
            <a:r>
              <a:t>- /Volumes/Extreme Pro/Projects/Clients/StudioInTheBox/Speak to me/Sources/MurmurYouTube/Transcription/ParakeetEngine.swift</a:t>
            </a:r>
          </a:p>
          <a:p xmlns:a="http://schemas.openxmlformats.org/drawingml/2006/main">
            <a:r>
              <a:t>- /Volumes/Extreme Pro/Projects/Clients/StudioInTheBox/Speak to me/Sources/MurmurYouTube/Formatting/FoundationModelFormatter.swift</a:t>
            </a:r>
          </a:p>
          <a:p xmlns:a="http://schemas.openxmlformats.org/drawingml/2006/main">
            <a:r>
              <a:t>- /Volumes/Extreme Pro/Projects/Clients/StudioInTheBox/Speak to me/Sources/MurmurYouTube/UI/SettingsWindow.swift</a:t>
            </a:r>
          </a:p>
          <a:p xmlns:a="http://schemas.openxmlformats.org/drawingml/2006/main">
            <a:r>
              <a:t>- /private/tmp/murmur-installed-settings-final.png (local product capture)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/Volumes/Extreme Pro/Projects/Clients/StudioInTheBox/Speak to me/Sources/MurmurYouTube/Dictionary/DictionaryStore.swift</a:t>
            </a:r>
          </a:p>
          <a:p xmlns:a="http://schemas.openxmlformats.org/drawingml/2006/main">
            <a:r>
              <a:t>- /Volumes/Extreme Pro/Projects/Clients/StudioInTheBox/Speak to me/Sources/MurmurDictionary/DictionaryEntry.swift</a:t>
            </a:r>
          </a:p>
          <a:p xmlns:a="http://schemas.openxmlformats.org/drawingml/2006/main">
            <a:r>
              <a:t>- /Volumes/Extreme Pro/Projects/Clients/StudioInTheBox/Speak to me/Sources/MurmurYouTube/Transcription/AppleSpeechEngine.swift</a:t>
            </a:r>
          </a:p>
          <a:p xmlns:a="http://schemas.openxmlformats.org/drawingml/2006/main">
            <a:r>
              <a:t>- /private/tmp/murmur-installed-dictionary-final.png (local product capture)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/Volumes/Extreme Pro/Projects/Clients/StudioInTheBox/Speak to me/Sources/MurmurYouTube/Support/MurmurDataStore.swift</a:t>
            </a:r>
          </a:p>
          <a:p xmlns:a="http://schemas.openxmlformats.org/drawingml/2006/main">
            <a:r>
              <a:t>- /Volumes/Extreme Pro/Projects/Clients/StudioInTheBox/Speak to me/Sources/MurmurYouTube/Support/RunLog.swift</a:t>
            </a:r>
          </a:p>
          <a:p xmlns:a="http://schemas.openxmlformats.org/drawingml/2006/main">
            <a:r>
              <a:t>- /Volumes/Extreme Pro/Projects/Clients/StudioInTheBox/Speak to me/Sources/MurmurYouTube/UI/SettingsWindow.swift</a:t>
            </a:r>
          </a:p>
          <a:p xmlns:a="http://schemas.openxmlformats.org/drawingml/2006/main">
            <a:r>
              <a:t>- /Volumes/Extreme Pro/Projects/Clients/StudioInTheBox/Speak to me/PRODUCT.md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/Volumes/Extreme Pro/Projects/Clients/StudioInTheBox/Speak to me/Sources/MurmurYouTube/Support/AppUpdateCoordinator.swift</a:t>
            </a:r>
          </a:p>
          <a:p xmlns:a="http://schemas.openxmlformats.org/drawingml/2006/main">
            <a:r>
              <a:t>- /Volumes/Extreme Pro/Projects/Clients/StudioInTheBox/Speak to me/Sources/MurmurUpdateCore/UpdateCore.swift</a:t>
            </a:r>
          </a:p>
          <a:p xmlns:a="http://schemas.openxmlformats.org/drawingml/2006/main">
            <a:r>
              <a:t>- /Volumes/Extreme Pro/Projects/Clients/StudioInTheBox/Speak to me/Makefile</a:t>
            </a:r>
          </a:p>
          <a:p xmlns:a="http://schemas.openxmlformats.org/drawingml/2006/main">
            <a:r>
              <a:t>- /Volumes/Extreme Pro/Projects/Clients/StudioInTheBox/Speak to me/README.md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/Volumes/Extreme Pro/Projects/Clients/StudioInTheBox/Speak to me/README.md</a:t>
            </a:r>
          </a:p>
          <a:p xmlns:a="http://schemas.openxmlformats.org/drawingml/2006/main">
            <a:r>
              <a:t>- /Volumes/Extreme Pro/Projects/Clients/StudioInTheBox/Speak to me/Makefile</a:t>
            </a:r>
          </a:p>
          <a:p xmlns:a="http://schemas.openxmlformats.org/drawingml/2006/main">
            <a:r>
              <a:t>- /Volumes/Extreme Pro/Projects/Clients/StudioInTheBox/Speak to me/AGENTS.md</a:t>
            </a:r>
          </a:p>
          <a:p xmlns:a="http://schemas.openxmlformats.org/drawingml/2006/main">
            <a:r>
              <a:t>- /Volumes/Extreme Pro/Projects/Clients/StudioInTheBox/Speak to me/dist/INSTALL.md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/Volumes/Extreme Pro/Projects/Clients/StudioInTheBox/Speak to me/README.md</a:t>
            </a:r>
          </a:p>
          <a:p xmlns:a="http://schemas.openxmlformats.org/drawingml/2006/main">
            <a:r>
              <a:t>- /Volumes/Extreme Pro/Projects/Clients/StudioInTheBox/Speak to me/PRODUCT.md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12105fb5648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9675902a29482e" /><Relationship Type="http://schemas.openxmlformats.org/officeDocument/2006/relationships/slideLayout" Target="/ppt/slideLayouts/slideLayout1.xml" Id="R84e371d714f449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e371d714f449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1e2592fe147f4" /><Relationship Type="http://schemas.openxmlformats.org/officeDocument/2006/relationships/image" Target="/ppt/media/image.png" Id="Rc1557fdb9ed24089" /><Relationship Type="http://schemas.openxmlformats.org/officeDocument/2006/relationships/notesSlide" Target="/ppt/notesSlides/notesSlide1.xml" Id="R07fd3aff3acb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abf1414eb4f12" /><Relationship Type="http://schemas.openxmlformats.org/officeDocument/2006/relationships/notesSlide" Target="/ppt/notesSlides/notesSlide2.xml" Id="R4ee5326243964f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21364dacc4c8e" /><Relationship Type="http://schemas.openxmlformats.org/officeDocument/2006/relationships/notesSlide" Target="/ppt/notesSlides/notesSlide3.xml" Id="R523195bdac164b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f80029d604b65" /><Relationship Type="http://schemas.openxmlformats.org/officeDocument/2006/relationships/image" Target="/ppt/media/image2.png" Id="R086d427a2a634dc5" /><Relationship Type="http://schemas.openxmlformats.org/officeDocument/2006/relationships/notesSlide" Target="/ppt/notesSlides/notesSlide4.xml" Id="R5ea1a2fedde24e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b52cae9b647a6" /><Relationship Type="http://schemas.openxmlformats.org/officeDocument/2006/relationships/image" Target="/ppt/media/image3.png" Id="Rfe5889a0e66f499e" /><Relationship Type="http://schemas.openxmlformats.org/officeDocument/2006/relationships/notesSlide" Target="/ppt/notesSlides/notesSlide5.xml" Id="R83633fe80dd947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cdeeb4fcd4713" /><Relationship Type="http://schemas.openxmlformats.org/officeDocument/2006/relationships/notesSlide" Target="/ppt/notesSlides/notesSlide6.xml" Id="R58c55cf6ad5f4b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4ab6bc19f44c6" /><Relationship Type="http://schemas.openxmlformats.org/officeDocument/2006/relationships/notesSlide" Target="/ppt/notesSlides/notesSlide7.xml" Id="R518441f6d189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b525b141c486f" /><Relationship Type="http://schemas.openxmlformats.org/officeDocument/2006/relationships/notesSlide" Target="/ppt/notesSlides/notesSlide8.xml" Id="Rd4216b65bfeb4a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4a98ea8ca4a29" /><Relationship Type="http://schemas.openxmlformats.org/officeDocument/2006/relationships/notesSlide" Target="/ppt/notesSlides/notesSlide9.xml" Id="R491f2ca1eb084b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C11AF-5BE6-4E13-9AAB-5C6CED2D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1EBE2"/>
                </a:solidFill>
              </a:defRPr>
            </a:pPr>
            <a:r>
              <a:rPr sz="4650" b="1">
                <a:solidFill>
                  <a:srgbClr val="F1EBE2"/>
                </a:solidFill>
              </a:rPr>
              <a:t>MURMURE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0A925-3E98-4E92-BD9C-5801511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5ACA1"/>
                </a:solidFill>
              </a:defRPr>
            </a:pPr>
            <a:r>
              <a:rPr sz="2100">
                <a:solidFill>
                  <a:srgbClr val="B5ACA1"/>
                </a:solidFill>
              </a:rPr>
              <a:t>A private voice desk for macOS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2A6DC-29F9-45A6-B02C-38B123E7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1EC"/>
                </a:solidFill>
              </a:defRPr>
            </a:pPr>
            <a:r>
              <a:rPr sz="3600" b="1">
                <a:solidFill>
                  <a:srgbClr val="F4F1EC"/>
                </a:solidFill>
              </a:rPr>
              <a:t>Hold. Speak.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AC2EB-EB81-4D3F-94D1-1CDE0127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B5ACA1"/>
                </a:solidFill>
              </a:defRPr>
            </a:pPr>
            <a:r>
              <a:rPr sz="1725">
                <a:solidFill>
                  <a:srgbClr val="B5ACA1"/>
                </a:solidFill>
              </a:rPr>
              <a:t>Cleaned-up text lands in the field that already has focus.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0542E-CCA2-465C-9747-C6CD39C4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19150"/>
            <a:ext cx="5048250" cy="4038600"/>
          </a:xfrm>
          <a:prstGeom xmlns:a="http://schemas.openxmlformats.org/drawingml/2006/main" prst="roundRect">
            <a:avLst>
              <a:gd name="adj" fmla="val 5189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57fdb9ed24089"/>
          <a:srcRect xmlns:a="http://schemas.openxmlformats.org/drawingml/2006/main" l="1355" t="0" r="1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1066800"/>
            <a:ext cx="4552950" cy="3524250"/>
          </a:xfrm>
          <a:prstGeom xmlns:a="http://schemas.openxmlformats.org/drawingml/2006/main" prst="roundRect">
            <a:avLst>
              <a:gd name="adj" fmla="val 486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82BF1-5EB2-4031-8820-90E5D820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67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B39A"/>
                </a:solidFill>
              </a:defRPr>
            </a:pPr>
            <a:r>
              <a:rPr sz="1200" b="1">
                <a:solidFill>
                  <a:srgbClr val="9AB39A"/>
                </a:solidFill>
              </a:rPr>
              <a:t>LOCAL BY 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AD807-9CBA-46E5-A8CA-A72F385F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53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5ACA1"/>
                </a:solidFill>
              </a:defRPr>
            </a:pPr>
            <a:r>
              <a:rPr sz="1350">
                <a:solidFill>
                  <a:srgbClr val="B5ACA1"/>
                </a:solidFill>
              </a:rPr>
              <a:t>Audio · cleanup · dictionary ·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95714-D133-4652-A812-4C1BCED9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88616-1894-4F9D-8015-28C22C27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E867E"/>
                </a:solidFill>
              </a:defRPr>
            </a:pPr>
            <a:r>
              <a:rPr sz="1200">
                <a:solidFill>
                  <a:srgbClr val="8E867E"/>
                </a:solidFill>
              </a:rPr>
              <a:t>A practical guide for setup, daily use, and sharing</a:t>
            </a:r>
          </a:p>
        </p:txBody>
      </p:sp>
    </p:spTree>
    <p:extLst>
      <p:ext uri="{BB962C8B-B14F-4D97-AF65-F5344CB8AC3E}">
        <p14:creationId xmlns:p14="http://schemas.microsoft.com/office/powerpoint/2010/main" val="803298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EEA28-6E16-4D28-BA2D-392AF835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ACA1"/>
                </a:solidFill>
              </a:defRPr>
            </a:pPr>
            <a:r>
              <a:rPr sz="1125" b="1">
                <a:solidFill>
                  <a:srgbClr val="B5ACA1"/>
                </a:solidFill>
              </a:rPr>
              <a:t>01 · THE BASIC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5367-241C-4F7A-9EBD-DDD4DEFB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1EBE2"/>
                </a:solidFill>
              </a:defRPr>
            </a:pPr>
            <a:r>
              <a:rPr sz="3300" b="1">
                <a:solidFill>
                  <a:srgbClr val="F1EBE2"/>
                </a:solidFill>
              </a:rPr>
              <a:t>One gesture takes an idea to the page.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0D81D-B7BB-46DF-A682-53BDDAC0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B712C-47A7-4E37-8750-925A692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472C8-6E85-49A2-8C75-7977C0A1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867E"/>
                </a:solidFill>
              </a:defRPr>
            </a:pPr>
            <a:r>
              <a:rPr sz="1050" b="1">
                <a:solidFill>
                  <a:srgbClr val="8E867E"/>
                </a:solidFill>
              </a:rPr>
              <a:t>MURMURE · 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BBFFA-CFC1-4870-A2E5-B7D5F17B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E867E"/>
                </a:solidFill>
              </a:defRPr>
            </a:pPr>
            <a:r>
              <a:rPr sz="1200" b="1">
                <a:solidFill>
                  <a:srgbClr val="8E867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F013B-23B7-437E-A1BC-571CEA27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5ACA1"/>
                </a:solidFill>
              </a:defRPr>
            </a:pPr>
            <a:r>
              <a:rPr sz="1575">
                <a:solidFill>
                  <a:srgbClr val="B5ACA1"/>
                </a:solidFill>
              </a:rPr>
              <a:t>Murmure keeps the interaction deliberately small: the app stays out of the way while you talk.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903A5-0BCD-4C13-BE77-C872E03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24200" cy="22288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688D0-AE01-4579-B50A-59CA3B91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E29A4-BE36-4BC7-BFE1-3F9117B5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11E"/>
                </a:solidFill>
              </a:defRPr>
            </a:pPr>
            <a:r>
              <a:rPr sz="1275" b="1">
                <a:solidFill>
                  <a:srgbClr val="25211E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196CE-0C97-49FC-86C5-58653132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EBE2"/>
                </a:solidFill>
              </a:defRPr>
            </a:pPr>
            <a:r>
              <a:rPr sz="2100" b="1">
                <a:solidFill>
                  <a:srgbClr val="F1EBE2"/>
                </a:solidFill>
              </a:rPr>
              <a:t>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9FE53-8CBA-4788-B40D-D4DD084E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Press and hold your configured push-to-talk key. The HUD appears without taking focus.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F37B7-6E20-418A-9560-D9B10009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86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8E867E"/>
                </a:solidFill>
              </a:defRPr>
            </a:pPr>
            <a:r>
              <a:rPr sz="2850" b="1">
                <a:solidFill>
                  <a:srgbClr val="8E867E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CA15C-0F24-4E0A-AB8C-DA255072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124200" cy="22288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9881F-22D5-4FD2-BF56-E03B7EBD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9A2E"/>
          </a:solidFill>
          <a:ln xmlns:a="http://schemas.openxmlformats.org/drawingml/2006/main" w="0">
            <a:solidFill>
              <a:srgbClr val="D39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0318A-89B8-4084-A8EB-4784967E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11E"/>
                </a:solidFill>
              </a:defRPr>
            </a:pPr>
            <a:r>
              <a:rPr sz="1275" b="1">
                <a:solidFill>
                  <a:srgbClr val="25211E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6BC65-29E1-48DE-969B-3279174E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9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EBE2"/>
                </a:solidFill>
              </a:defRPr>
            </a:pPr>
            <a:r>
              <a:rPr sz="2100" b="1">
                <a:solidFill>
                  <a:srgbClr val="F1EBE2"/>
                </a:solidFill>
              </a:rPr>
              <a:t>Speak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49B92-523F-4BC4-81FA-6DB6F324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67100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Talk naturally. Apple streams live text; Parakeet resolves the utterance when you release.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98471-7678-42C3-A117-1A884992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8E867E"/>
                </a:solidFill>
              </a:defRPr>
            </a:pPr>
            <a:r>
              <a:rPr sz="2850" b="1">
                <a:solidFill>
                  <a:srgbClr val="8E867E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45F14-FF6A-4724-BBC1-90599C28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3124200" cy="22288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2C740-0971-416F-AC90-33814DB6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95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732"/>
          </a:solidFill>
          <a:ln xmlns:a="http://schemas.openxmlformats.org/drawingml/2006/main" w="0">
            <a:solidFill>
              <a:srgbClr val="B447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EB623-0B65-483A-87C5-772F9FC9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336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11E"/>
                </a:solidFill>
              </a:defRPr>
            </a:pPr>
            <a:r>
              <a:rPr sz="1275" b="1">
                <a:solidFill>
                  <a:srgbClr val="25211E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0C0E2-ABE2-4F46-993C-EC1759A4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EBE2"/>
                </a:solidFill>
              </a:defRPr>
            </a:pPr>
            <a:r>
              <a:rPr sz="2100" b="1">
                <a:solidFill>
                  <a:srgbClr val="F1EBE2"/>
                </a:solidFill>
              </a:rPr>
              <a:t>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04940-9AEE-45F6-B64B-90C7AEDA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Cleanup and dictionary corrections run, then the result is inserted at the existing caret.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67773-495F-446D-8620-178D3A6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24211F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576EB3-F235-436F-813E-C4AEBB04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B39A"/>
                </a:solidFill>
              </a:defRPr>
            </a:pPr>
            <a:r>
              <a:rPr sz="1200" b="1">
                <a:solidFill>
                  <a:srgbClr val="9AB39A"/>
                </a:solidFill>
              </a:rPr>
              <a:t>FOCUS IS PRESERVED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E9F8A-DD6D-450A-B133-C24F8C25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816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1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1EBE2"/>
                </a:solidFill>
              </a:defRPr>
            </a:pPr>
            <a:r>
              <a:rPr sz="1500">
                <a:solidFill>
                  <a:srgbClr val="F1EBE2"/>
                </a:solidFill>
              </a:rPr>
              <a:t>The recording overlay is non-activating, so the text field you were using remains the destination.</a:t>
            </a:r>
          </a:p>
        </p:txBody>
      </p:sp>
    </p:spTree>
    <p:extLst>
      <p:ext uri="{BB962C8B-B14F-4D97-AF65-F5344CB8AC3E}">
        <p14:creationId xmlns:p14="http://schemas.microsoft.com/office/powerpoint/2010/main" val="755691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45D6F-664D-4D88-BCEA-25B96247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ACA1"/>
                </a:solidFill>
              </a:defRPr>
            </a:pPr>
            <a:r>
              <a:rPr sz="1125" b="1">
                <a:solidFill>
                  <a:srgbClr val="B5ACA1"/>
                </a:solidFill>
              </a:rPr>
              <a:t>02 · FIRST LAUNCH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1EB4E-A821-471D-A78D-2D82560C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1EBE2"/>
                </a:solidFill>
              </a:defRPr>
            </a:pPr>
            <a:r>
              <a:rPr sz="3300" b="1">
                <a:solidFill>
                  <a:srgbClr val="F1EBE2"/>
                </a:solidFill>
              </a:rPr>
              <a:t>Grant two permissions once. Then just dictate.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3AF57-C352-4778-B1AF-38A29FB4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3B090-EC0B-466A-9443-963899D7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07BF9-824A-40D0-A320-700C7A63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867E"/>
                </a:solidFill>
              </a:defRPr>
            </a:pPr>
            <a:r>
              <a:rPr sz="1050" b="1">
                <a:solidFill>
                  <a:srgbClr val="8E867E"/>
                </a:solidFill>
              </a:rPr>
              <a:t>MURMURE · 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39D0B-7096-4B5D-8823-EF101897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E867E"/>
                </a:solidFill>
              </a:defRPr>
            </a:pPr>
            <a:r>
              <a:rPr sz="1200" b="1">
                <a:solidFill>
                  <a:srgbClr val="8E867E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37852-29F6-4CD4-9813-954FECD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5ACA1"/>
                </a:solidFill>
              </a:defRPr>
            </a:pPr>
            <a:r>
              <a:rPr sz="1575">
                <a:solidFill>
                  <a:srgbClr val="B5ACA1"/>
                </a:solidFill>
              </a:rPr>
              <a:t>macOS protects microphone capture and system-wide keyboard/text insertion separately.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0399F-6B56-4C38-865E-64C6E98D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C255C-66AB-4A05-96B3-12E22A3A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B8441-FC1B-4C5E-A147-65DBA8E1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EBE2"/>
                </a:solidFill>
              </a:defRPr>
            </a:pPr>
            <a:r>
              <a:rPr sz="2250" b="1">
                <a:solidFill>
                  <a:srgbClr val="F1EBE2"/>
                </a:solidFill>
              </a:rPr>
              <a:t>Accessibility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89CE0-AC6E-4B2A-9FA2-AC94311F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18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System Settings → Privacy &amp; Security → Accessibility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F21F0-DC96-4DA1-B492-E7DF8929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F1EBE2"/>
                </a:solidFill>
              </a:defRPr>
            </a:pPr>
            <a:r>
              <a:rPr sz="1500">
                <a:solidFill>
                  <a:srgbClr val="F1EBE2"/>
                </a:solidFill>
              </a:rPr>
              <a:t>Needed to detect the global key and insert text into the focused app.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DE44E-745A-4B73-BCA8-031F1EA3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57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59A63"/>
                </a:solidFill>
              </a:defRPr>
            </a:pPr>
            <a:r>
              <a:rPr sz="1275" b="1">
                <a:solidFill>
                  <a:srgbClr val="D59A63"/>
                </a:solidFill>
              </a:rPr>
              <a:t>Restart Murmure after enabling it so macOS refreshes the trust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ED21B-FF0E-455E-9712-0E04A044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47900"/>
            <a:ext cx="49530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137D1-C6AE-4C34-AB52-7741DB1C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5B5BC-8FE8-41D8-BBF2-1C3BD74F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EBE2"/>
                </a:solidFill>
              </a:defRPr>
            </a:pPr>
            <a:r>
              <a:rPr sz="2250" b="1">
                <a:solidFill>
                  <a:srgbClr val="F1EBE2"/>
                </a:solidFill>
              </a:rPr>
              <a:t>Microphone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EC952-ED96-4D5B-878C-C3D05C0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B5ACA1"/>
                </a:solidFill>
              </a:defRPr>
            </a:pPr>
            <a:r>
              <a:rPr sz="1500">
                <a:solidFill>
                  <a:srgbClr val="B5ACA1"/>
                </a:solidFill>
              </a:rPr>
              <a:t>Grant the prompt on first recording, or open the Microphone pane from Settings.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AC382-4442-4513-8008-922F7DF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F1EBE2"/>
                </a:solidFill>
              </a:defRPr>
            </a:pPr>
            <a:r>
              <a:rPr sz="1500">
                <a:solidFill>
                  <a:srgbClr val="F1EBE2"/>
                </a:solidFill>
              </a:rPr>
              <a:t>Murmure listens only while you hold the push-to-talk key.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5D073-5A4E-463F-B1E3-67E7FE2C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59A63"/>
                </a:solidFill>
              </a:defRPr>
            </a:pPr>
            <a:r>
              <a:rPr sz="1275" b="1">
                <a:solidFill>
                  <a:srgbClr val="D59A63"/>
                </a:solidFill>
              </a:rPr>
              <a:t>You must approve these on each Mac; Codex cannot grant TCC permissions for you.</a:t>
            </a:r>
          </a:p>
        </p:txBody>
      </p:sp>
    </p:spTree>
    <p:extLst>
      <p:ext uri="{BB962C8B-B14F-4D97-AF65-F5344CB8AC3E}">
        <p14:creationId xmlns:p14="http://schemas.microsoft.com/office/powerpoint/2010/main" val="1126239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989FD-1AEF-4072-9F6A-FA91E986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ACA1"/>
                </a:solidFill>
              </a:defRPr>
            </a:pPr>
            <a:r>
              <a:rPr sz="1125" b="1">
                <a:solidFill>
                  <a:srgbClr val="B5ACA1"/>
                </a:solidFill>
              </a:rPr>
              <a:t>03 · SETTINGS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97B96-2B20-4841-B5B3-B6DCC4C9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1EBE2"/>
                </a:solidFill>
              </a:defRPr>
            </a:pPr>
            <a:r>
              <a:rPr sz="3300" b="1">
                <a:solidFill>
                  <a:srgbClr val="F1EBE2"/>
                </a:solidFill>
              </a:rPr>
              <a:t>Choose how it hears, then choose how it edits.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57A5A-C3D0-4369-AA5E-2EF40AB5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5DC67-899A-403D-8B40-E6FCAC6C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4CF18-5605-4DEA-9775-BB07E66D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867E"/>
                </a:solidFill>
              </a:defRPr>
            </a:pPr>
            <a:r>
              <a:rPr sz="1050" b="1">
                <a:solidFill>
                  <a:srgbClr val="8E867E"/>
                </a:solidFill>
              </a:rPr>
              <a:t>MURMURE · 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1A104-4B95-43E2-8878-A9BCC82C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E867E"/>
                </a:solidFill>
              </a:defRPr>
            </a:pPr>
            <a:r>
              <a:rPr sz="1200" b="1">
                <a:solidFill>
                  <a:srgbClr val="8E867E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96A7E-F152-440A-946A-4964EB65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5ACA1"/>
                </a:solidFill>
              </a:defRPr>
            </a:pPr>
            <a:r>
              <a:rPr sz="1575">
                <a:solidFill>
                  <a:srgbClr val="B5ACA1"/>
                </a:solidFill>
              </a:rPr>
              <a:t>The speech engine decides the words. Cleanup makes those words easier to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24C93-A162-4493-8E42-64A55D9B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667250" cy="350520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d427a2a634dc5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686050"/>
            <a:ext cx="42862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2C8DC-AEE4-4D89-89D4-0791A277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33600"/>
            <a:ext cx="5676900" cy="350520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C72F3-DECF-4384-8A1E-981EB74F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CB423-39BC-422D-9C29-EB9D890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EBE2"/>
                </a:solidFill>
              </a:defRPr>
            </a:pPr>
            <a:r>
              <a:rPr sz="1650" b="1">
                <a:solidFill>
                  <a:srgbClr val="F1EBE2"/>
                </a:solidFill>
              </a:rPr>
              <a:t>Apple · streaming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F264F-7883-40D7-9135-825AFBB2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B5ACA1"/>
                </a:solidFill>
              </a:defRPr>
            </a:pPr>
            <a:r>
              <a:rPr sz="1350">
                <a:solidFill>
                  <a:srgbClr val="B5ACA1"/>
                </a:solidFill>
              </a:rPr>
              <a:t>The default. Text appears while you speak, with no bundled model download.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935C1-31D5-4976-B6B8-26939268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9A2E"/>
          </a:solidFill>
          <a:ln xmlns:a="http://schemas.openxmlformats.org/drawingml/2006/main" w="0">
            <a:solidFill>
              <a:srgbClr val="D39A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DE39E-881C-4DD5-8FC2-E0278D99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EBE2"/>
                </a:solidFill>
              </a:defRPr>
            </a:pPr>
            <a:r>
              <a:rPr sz="1650" b="1">
                <a:solidFill>
                  <a:srgbClr val="F1EBE2"/>
                </a:solidFill>
              </a:rPr>
              <a:t>Parakeet · 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F664C-923B-476F-9EC1-344B29BE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B5ACA1"/>
                </a:solidFill>
              </a:defRPr>
            </a:pPr>
            <a:r>
              <a:rPr sz="1350">
                <a:solidFill>
                  <a:srgbClr val="B5ACA1"/>
                </a:solidFill>
              </a:rPr>
              <a:t>A local alternative to test when English recognition is the priority. It resolves on release.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09206-841E-4E5C-AF5E-C8EB6DFC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81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E45"/>
          </a:solidFill>
          <a:ln xmlns:a="http://schemas.openxmlformats.org/drawingml/2006/main" w="0">
            <a:solidFill>
              <a:srgbClr val="6F9E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87826-B354-4846-9C34-52BB2A6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EBE2"/>
                </a:solidFill>
              </a:defRPr>
            </a:pPr>
            <a:r>
              <a:rPr sz="1650" b="1">
                <a:solidFill>
                  <a:srgbClr val="F1EBE2"/>
                </a:solidFill>
              </a:rPr>
              <a:t>Smart cleanup · on-device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135AF-9581-4AB2-9D31-1E6B7191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57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883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B5ACA1"/>
                </a:solidFill>
              </a:defRPr>
            </a:pPr>
            <a:r>
              <a:rPr sz="1350">
                <a:solidFill>
                  <a:srgbClr val="B5ACA1"/>
                </a:solidFill>
              </a:rPr>
              <a:t>Apple's local language model edits the transcript after recognition. It can remove fillers, repair punctuation, format lists, and apply spoken self-corrections. It does not listen again.</a:t>
            </a:r>
          </a:p>
        </p:txBody>
      </p:sp>
    </p:spTree>
    <p:extLst>
      <p:ext uri="{BB962C8B-B14F-4D97-AF65-F5344CB8AC3E}">
        <p14:creationId xmlns:p14="http://schemas.microsoft.com/office/powerpoint/2010/main" val="325047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B4B55-CD3B-4417-8F8A-9B73D6B4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ACA1"/>
                </a:solidFill>
              </a:defRPr>
            </a:pPr>
            <a:r>
              <a:rPr sz="1125" b="1">
                <a:solidFill>
                  <a:srgbClr val="B5ACA1"/>
                </a:solidFill>
              </a:rPr>
              <a:t>04 · PERSONAL VOCABULARY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B0206-195D-4171-9F65-E380AAAF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1EBE2"/>
                </a:solidFill>
              </a:defRPr>
            </a:pPr>
            <a:r>
              <a:rPr sz="3300" b="1">
                <a:solidFill>
                  <a:srgbClr val="F1EBE2"/>
                </a:solidFill>
              </a:rPr>
              <a:t>Teach the dictionary the words that matter.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00CA4-8CDC-4095-AECA-171941EA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FF62F-D086-4685-9C2C-E3D329C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E547A-EACD-4914-9D04-BE03481C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867E"/>
                </a:solidFill>
              </a:defRPr>
            </a:pPr>
            <a:r>
              <a:rPr sz="1050" b="1">
                <a:solidFill>
                  <a:srgbClr val="8E867E"/>
                </a:solidFill>
              </a:rPr>
              <a:t>MURMURE · 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00D1F-AE13-4BAD-9C2C-43632D6C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E867E"/>
                </a:solidFill>
              </a:defRPr>
            </a:pPr>
            <a:r>
              <a:rPr sz="1200" b="1">
                <a:solidFill>
                  <a:srgbClr val="8E867E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9F1EA-EBA8-4551-9C5C-CA412D4C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5ACA1"/>
                </a:solidFill>
              </a:defRPr>
            </a:pPr>
            <a:r>
              <a:rPr sz="1575">
                <a:solidFill>
                  <a:srgbClr val="B5ACA1"/>
                </a:solidFill>
              </a:rPr>
              <a:t>A dictionary entry is both a nudge before recognition and a guaranteed correction after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80C3A-72CF-4668-9645-C35CCC09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219700" cy="3638550"/>
          </a:xfrm>
          <a:prstGeom xmlns:a="http://schemas.openxmlformats.org/drawingml/2006/main" prst="roundRect">
            <a:avLst>
              <a:gd name="adj" fmla="val 4712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889a0e66f499e"/>
          <a:srcRect xmlns:a="http://schemas.openxmlformats.org/drawingml/2006/main" l="0" t="5302" r="0" b="53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305050"/>
            <a:ext cx="4838700" cy="32575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D3520-1FD5-44FC-A609-DD48174B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5181600" cy="3638550"/>
          </a:xfrm>
          <a:prstGeom xmlns:a="http://schemas.openxmlformats.org/drawingml/2006/main" prst="roundRect">
            <a:avLst>
              <a:gd name="adj" fmla="val 4712"/>
            </a:avLst>
          </a:prstGeom>
          <a:solidFill xmlns:a="http://schemas.openxmlformats.org/drawingml/2006/main">
            <a:srgbClr val="24211F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94CC5-ECA5-42E5-9A89-9469BBC4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29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EBE2"/>
                </a:solidFill>
              </a:defRPr>
            </a:pPr>
            <a:r>
              <a:rPr sz="1950" b="1">
                <a:solidFill>
                  <a:srgbClr val="F1EBE2"/>
                </a:solidFill>
              </a:rPr>
              <a:t>A correction remembers the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1C95E-4019-4F95-96D4-F02725DC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ACA1"/>
                </a:solidFill>
              </a:defRPr>
            </a:pPr>
            <a:r>
              <a:rPr sz="1200" b="1">
                <a:solidFill>
                  <a:srgbClr val="B5ACA1"/>
                </a:solidFill>
              </a:rPr>
              <a:t>When you hear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CD18A-CC89-421F-AD7E-3CE46762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1EBE2"/>
                </a:solidFill>
              </a:defRPr>
            </a:pPr>
            <a:r>
              <a:rPr sz="2400" b="1">
                <a:solidFill>
                  <a:srgbClr val="F1EBE2"/>
                </a:solidFill>
              </a:rPr>
              <a:t>banana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5D0F2-4A90-40C6-AB57-A707D93F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59A63"/>
                </a:solidFill>
              </a:defRPr>
            </a:pPr>
            <a:r>
              <a:rPr sz="2400" b="1">
                <a:solidFill>
                  <a:srgbClr val="D59A6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FD4AF-28AC-4553-BC33-5DE3F3FA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62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ACA1"/>
                </a:solidFill>
              </a:defRPr>
            </a:pPr>
            <a:r>
              <a:rPr sz="1200" b="1">
                <a:solidFill>
                  <a:srgbClr val="B5ACA1"/>
                </a:solidFill>
              </a:rPr>
              <a:t>write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50FE3-750F-4BA5-8ECE-D770CEE5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90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F1EC"/>
                </a:solidFill>
              </a:defRPr>
            </a:pPr>
            <a:r>
              <a:rPr sz="2400" b="1">
                <a:solidFill>
                  <a:srgbClr val="F4F1EC"/>
                </a:solidFill>
              </a:rPr>
              <a:t>Marina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85AA8-25B8-4F5F-B994-585C1FD5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24248-DD45-40EB-868F-57814060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Use a Term for a name or product the engine should know. Use a Correction for a repeated mishearing.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1778D-B4CE-48AF-A019-6BC5128F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816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9AB39A"/>
                </a:solidFill>
              </a:defRPr>
            </a:pPr>
            <a:r>
              <a:rPr sz="1350" b="1">
                <a:solidFill>
                  <a:srgbClr val="9AB39A"/>
                </a:solidFill>
              </a:rPr>
              <a:t>Entries live in dictionary.txt on the Murmure data folder and survive app updates.</a:t>
            </a:r>
          </a:p>
        </p:txBody>
      </p:sp>
    </p:spTree>
    <p:extLst>
      <p:ext uri="{BB962C8B-B14F-4D97-AF65-F5344CB8AC3E}">
        <p14:creationId xmlns:p14="http://schemas.microsoft.com/office/powerpoint/2010/main" val="1321984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37EA6-2E0B-410F-8ECD-9DC0A34B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ACA1"/>
                </a:solidFill>
              </a:defRPr>
            </a:pPr>
            <a:r>
              <a:rPr sz="1125" b="1">
                <a:solidFill>
                  <a:srgbClr val="B5ACA1"/>
                </a:solidFill>
              </a:rPr>
              <a:t>05 · YOUR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A3DB6-3005-467B-B008-05E4B7F4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1EBE2"/>
                </a:solidFill>
              </a:defRPr>
            </a:pPr>
            <a:r>
              <a:rPr sz="3300" b="1">
                <a:solidFill>
                  <a:srgbClr val="F1EBE2"/>
                </a:solidFill>
              </a:rPr>
              <a:t>Keep recordings and history where you own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F5FD2-5960-4320-90F0-66D89085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8A36D-CFBD-4272-87F5-41F26BE8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9EDD5-E0B0-415D-B74C-7F7A77C2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867E"/>
                </a:solidFill>
              </a:defRPr>
            </a:pPr>
            <a:r>
              <a:rPr sz="1050" b="1">
                <a:solidFill>
                  <a:srgbClr val="8E867E"/>
                </a:solidFill>
              </a:rPr>
              <a:t>MURMURE · 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A019F-6773-4648-BDD1-FF221211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E867E"/>
                </a:solidFill>
              </a:defRPr>
            </a:pPr>
            <a:r>
              <a:rPr sz="1200" b="1">
                <a:solidFill>
                  <a:srgbClr val="8E867E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1CC6B-5361-4A47-BA64-970C75B8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5ACA1"/>
                </a:solidFill>
              </a:defRPr>
            </a:pPr>
            <a:r>
              <a:rPr sz="1575">
                <a:solidFill>
                  <a:srgbClr val="B5ACA1"/>
                </a:solidFill>
              </a:rPr>
              <a:t>The default workflow has no hosted account and no remote API dependency.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D3675-94B1-4F00-8E29-6993C33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24211F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60528-3EDE-4AAC-96EE-F99D5D7D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956A-39AA-44D1-A3A1-41C5B9DC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19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B39A"/>
                </a:solidFill>
              </a:defRPr>
            </a:pPr>
            <a:r>
              <a:rPr sz="1200" b="1">
                <a:solidFill>
                  <a:srgbClr val="9AB39A"/>
                </a:solidFill>
              </a:rPr>
              <a:t>NORMAL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87D18-B79F-480D-9F77-3A03C961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1EC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4F1EC"/>
                </a:solidFill>
                <a:latin typeface="SF Mono"/>
                <a:ea typeface="SF Mono"/>
                <a:cs typeface="SF Mono"/>
              </a:rPr>
              <a:t>/Volumes/Extreme Pro/Murmure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A4DD5-BCB9-4D6F-B568-CCD86AF5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14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5ACA1"/>
                </a:solidFill>
              </a:defRPr>
            </a:pPr>
            <a:r>
              <a:rPr sz="1350">
                <a:solidFill>
                  <a:srgbClr val="B5ACA1"/>
                </a:solidFill>
              </a:rPr>
              <a:t>The folder is created for Murmure; unrelated drive files are not removed or overwritten.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3C2F2-9F4C-418C-99F5-54570564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881F9-7A68-4C23-8EAF-CCE60851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EBE2"/>
                </a:solidFill>
              </a:defRPr>
            </a:pPr>
            <a:r>
              <a:rPr sz="1875" b="1">
                <a:solidFill>
                  <a:srgbClr val="F1EBE2"/>
                </a:solidFill>
              </a:rPr>
              <a:t>Inside the folder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9DC5D-8225-4769-9FB0-73938B2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619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561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B5ACA1"/>
                </a:solidFill>
                <a:latin typeface="SF Mono"/>
                <a:ea typeface="SF Mono"/>
                <a:cs typeface="SF Mono"/>
              </a:defRPr>
            </a:pPr>
            <a:r>
              <a:rPr sz="1425">
                <a:solidFill>
                  <a:srgbClr val="B5ACA1"/>
                </a:solidFill>
                <a:latin typeface="SF Mono"/>
                <a:ea typeface="SF Mono"/>
                <a:cs typeface="SF Mono"/>
              </a:rPr>
              <a:t>runs.jsonl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B5ACA1"/>
                </a:solidFill>
                <a:latin typeface="SF Mono"/>
                <a:ea typeface="SF Mono"/>
                <a:cs typeface="SF Mono"/>
              </a:defRPr>
            </a:pPr>
            <a:r>
              <a:rPr sz="1425">
                <a:solidFill>
                  <a:srgbClr val="B5ACA1"/>
                </a:solidFill>
                <a:latin typeface="SF Mono"/>
                <a:ea typeface="SF Mono"/>
                <a:cs typeface="SF Mono"/>
              </a:rPr>
              <a:t>dictionary.txt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B5ACA1"/>
                </a:solidFill>
                <a:latin typeface="SF Mono"/>
                <a:ea typeface="SF Mono"/>
                <a:cs typeface="SF Mono"/>
              </a:defRPr>
            </a:pPr>
            <a:r>
              <a:rPr sz="1425">
                <a:solidFill>
                  <a:srgbClr val="B5ACA1"/>
                </a:solidFill>
                <a:latin typeface="SF Mono"/>
                <a:ea typeface="SF Mono"/>
                <a:cs typeface="SF Mono"/>
              </a:rPr>
              <a:t>settings.json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B5ACA1"/>
                </a:solidFill>
                <a:latin typeface="SF Mono"/>
                <a:ea typeface="SF Mono"/>
                <a:cs typeface="SF Mono"/>
              </a:defRPr>
            </a:pPr>
            <a:r>
              <a:rPr sz="1425">
                <a:solidFill>
                  <a:srgbClr val="B5ACA1"/>
                </a:solidFill>
                <a:latin typeface="SF Mono"/>
                <a:ea typeface="SF Mono"/>
                <a:cs typeface="SF Mono"/>
              </a:rPr>
              <a:t>dashboard.html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B5ACA1"/>
                </a:solidFill>
                <a:latin typeface="SF Mono"/>
                <a:ea typeface="SF Mono"/>
                <a:cs typeface="SF Mono"/>
              </a:defRPr>
            </a:pPr>
            <a:r>
              <a:rPr sz="1425">
                <a:solidFill>
                  <a:srgbClr val="B5ACA1"/>
                </a:solidFill>
                <a:latin typeface="SF Mono"/>
                <a:ea typeface="SF Mono"/>
                <a:cs typeface="SF Mono"/>
              </a:rPr>
              <a:t>Recordings/*.caf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B2954-CE3B-4C71-8970-9742F8F9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50482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91F02-4347-4F25-A192-8B3AD95C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EBE2"/>
                </a:solidFill>
              </a:defRPr>
            </a:pPr>
            <a:r>
              <a:rPr sz="1875" b="1">
                <a:solidFill>
                  <a:srgbClr val="F1EBE2"/>
                </a:solidFill>
              </a:rPr>
              <a:t>If the drive is not present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49E07-7421-42C8-90F9-91A3E1D4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4171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55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Murmure falls back to a local Application Support folder and shows that status in Settings. Reconnect the drive before recording if external storage is required.</a:t>
            </a:r>
          </a:p>
        </p:txBody>
      </p:sp>
    </p:spTree>
    <p:extLst>
      <p:ext uri="{BB962C8B-B14F-4D97-AF65-F5344CB8AC3E}">
        <p14:creationId xmlns:p14="http://schemas.microsoft.com/office/powerpoint/2010/main" val="418197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0A5439-7405-4B9B-A878-2A935C6E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ACA1"/>
                </a:solidFill>
              </a:defRPr>
            </a:pPr>
            <a:r>
              <a:rPr sz="1125" b="1">
                <a:solidFill>
                  <a:srgbClr val="B5ACA1"/>
                </a:solidFill>
              </a:rPr>
              <a:t>06 · UPDATES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B11EF-ECC1-46C0-A076-411EBB53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1EBE2"/>
                </a:solidFill>
              </a:defRPr>
            </a:pPr>
            <a:r>
              <a:rPr sz="3300" b="1">
                <a:solidFill>
                  <a:srgbClr val="F1EBE2"/>
                </a:solidFill>
              </a:rPr>
              <a:t>Updates are a button, not a permission reset.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C7D00-23A1-468F-B508-92C332A9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18DC9-A70C-4AA8-A931-F5F34044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32C5D-7495-4E8B-8E4E-5FFB5018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867E"/>
                </a:solidFill>
              </a:defRPr>
            </a:pPr>
            <a:r>
              <a:rPr sz="1050" b="1">
                <a:solidFill>
                  <a:srgbClr val="8E867E"/>
                </a:solidFill>
              </a:rPr>
              <a:t>MURMURE · 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B8B83-1267-42B1-9E4C-FE13FDC7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E867E"/>
                </a:solidFill>
              </a:defRPr>
            </a:pPr>
            <a:r>
              <a:rPr sz="1200" b="1">
                <a:solidFill>
                  <a:srgbClr val="8E867E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DFCCA-1A3F-4D69-8F10-D294D2C4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5ACA1"/>
                </a:solidFill>
              </a:defRPr>
            </a:pPr>
            <a:r>
              <a:rPr sz="1575">
                <a:solidFill>
                  <a:srgbClr val="B5ACA1"/>
                </a:solidFill>
              </a:rPr>
              <a:t>The installed app can replace itself with a validated bundle staged on the same Mac.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71961-596A-4307-830E-4B6D1E73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1336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DCBDF-A514-47BF-A966-7519A114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B4FEF-65C4-44E1-ABAB-74FD940A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1EBE2"/>
                </a:solidFill>
              </a:defRPr>
            </a:pPr>
            <a:r>
              <a:rPr sz="2025" b="1">
                <a:solidFill>
                  <a:srgbClr val="F1EBE2"/>
                </a:solidFill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B830A-C253-4258-A1A4-CABF25E9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B5ACA1"/>
                </a:solidFill>
              </a:defRPr>
            </a:pPr>
            <a:r>
              <a:rPr sz="1350">
                <a:solidFill>
                  <a:srgbClr val="B5ACA1"/>
                </a:solidFill>
              </a:rPr>
              <a:t>make stage-update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0CAEC-F91C-40EA-B562-6B14ECC7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E867E"/>
                </a:solidFill>
              </a:defRPr>
            </a:pPr>
            <a:r>
              <a:rPr sz="2100" b="1">
                <a:solidFill>
                  <a:srgbClr val="8E867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3E3C8-92C8-4292-9068-369D8DA3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21336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81D6A-4077-4112-B72B-CC8BB00D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9A2E"/>
          </a:solidFill>
          <a:ln xmlns:a="http://schemas.openxmlformats.org/drawingml/2006/main" w="0">
            <a:solidFill>
              <a:srgbClr val="D39A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E357A-2C93-40B6-939D-621E77F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6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1EBE2"/>
                </a:solidFill>
              </a:defRPr>
            </a:pPr>
            <a:r>
              <a:rPr sz="2025" b="1">
                <a:solidFill>
                  <a:srgbClr val="F1EBE2"/>
                </a:solidFill>
              </a:rPr>
              <a:t>Stage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770EC-D720-4D9F-BA6B-19BCF31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433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B5ACA1"/>
                </a:solidFill>
              </a:defRPr>
            </a:pPr>
            <a:r>
              <a:rPr sz="1350">
                <a:solidFill>
                  <a:srgbClr val="B5ACA1"/>
                </a:solidFill>
              </a:rPr>
              <a:t>Local update inbox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2FEE2-EDB8-4F0B-8B30-EBC0E8A8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00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E867E"/>
                </a:solidFill>
              </a:defRPr>
            </a:pPr>
            <a:r>
              <a:rPr sz="2100" b="1">
                <a:solidFill>
                  <a:srgbClr val="8E867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2DBAE-FE01-4D63-9D17-6B440796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21336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A0875-FED9-477B-9FB8-2FD07504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E45"/>
          </a:solidFill>
          <a:ln xmlns:a="http://schemas.openxmlformats.org/drawingml/2006/main" w="0">
            <a:solidFill>
              <a:srgbClr val="6F9E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7CA6F-870A-427F-BD46-EEE03BD7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86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1EBE2"/>
                </a:solidFill>
              </a:defRPr>
            </a:pPr>
            <a:r>
              <a:rPr sz="2025" b="1">
                <a:solidFill>
                  <a:srgbClr val="F1EBE2"/>
                </a:solidFill>
              </a:rPr>
              <a:t>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CC3AB-49A2-4E95-9F50-BE70DB58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B5ACA1"/>
                </a:solidFill>
              </a:defRPr>
            </a:pPr>
            <a:r>
              <a:rPr sz="1350">
                <a:solidFill>
                  <a:srgbClr val="B5ACA1"/>
                </a:solidFill>
              </a:rPr>
              <a:t>Settings → Local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18C07-B26B-4532-8F60-FC3647B4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E867E"/>
                </a:solidFill>
              </a:defRPr>
            </a:pPr>
            <a:r>
              <a:rPr sz="2100" b="1">
                <a:solidFill>
                  <a:srgbClr val="8E867E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81B27-1ED4-4F93-8523-31564E0A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1336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F989F-B894-408A-8351-79A8E9E1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732"/>
          </a:solidFill>
          <a:ln xmlns:a="http://schemas.openxmlformats.org/drawingml/2006/main" w="0">
            <a:solidFill>
              <a:srgbClr val="B447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52D5D2-743C-41BB-B050-8F177BA0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1EBE2"/>
                </a:solidFill>
              </a:defRPr>
            </a:pPr>
            <a:r>
              <a:rPr sz="2025" b="1">
                <a:solidFill>
                  <a:srgbClr val="F1EBE2"/>
                </a:solidFill>
              </a:rPr>
              <a:t>Install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0C5D2-44FD-4422-93A1-14D11C19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B5ACA1"/>
                </a:solidFill>
              </a:defRPr>
            </a:pPr>
            <a:r>
              <a:rPr sz="1350">
                <a:solidFill>
                  <a:srgbClr val="B5ACA1"/>
                </a:solidFill>
              </a:rPr>
              <a:t>Install and relaunch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29D63B-B2D0-4FFF-9FD7-2BD6E613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24211F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2824CC-87E7-472D-9B75-6D9EBEF4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59A63"/>
                </a:solidFill>
              </a:defRPr>
            </a:pPr>
            <a:r>
              <a:rPr sz="1200" b="1">
                <a:solidFill>
                  <a:srgbClr val="D59A63"/>
                </a:solidFill>
              </a:rPr>
              <a:t>SHARING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94DA5-79C2-47C4-9E5F-858032B5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786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091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F1EBE2"/>
                </a:solidFill>
              </a:defRPr>
            </a:pPr>
            <a:r>
              <a:rPr sz="1425">
                <a:solidFill>
                  <a:srgbClr val="F1EBE2"/>
                </a:solidFill>
              </a:rPr>
              <a:t>The button handles a locally staged update. A newer GitHub archive still needs to be downloaded and replaced, unless a bundle has been staged first.</a:t>
            </a:r>
          </a:p>
        </p:txBody>
      </p:sp>
    </p:spTree>
    <p:extLst>
      <p:ext uri="{BB962C8B-B14F-4D97-AF65-F5344CB8AC3E}">
        <p14:creationId xmlns:p14="http://schemas.microsoft.com/office/powerpoint/2010/main" val="1079035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64FDB-E610-435E-9699-DB5959BF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ACA1"/>
                </a:solidFill>
              </a:defRPr>
            </a:pPr>
            <a:r>
              <a:rPr sz="1125" b="1">
                <a:solidFill>
                  <a:srgbClr val="B5ACA1"/>
                </a:solidFill>
              </a:rPr>
              <a:t>07 ·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6417D-85CD-4BC8-80D7-3C6D51DD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1EBE2"/>
                </a:solidFill>
              </a:defRPr>
            </a:pPr>
            <a:r>
              <a:rPr sz="3300" b="1">
                <a:solidFill>
                  <a:srgbClr val="F1EBE2"/>
                </a:solidFill>
              </a:rPr>
              <a:t>Give friends a download path and a build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C66CD-CAE1-491B-B808-8BE73587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6FA1A-64DE-426B-AB47-D02F11E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2F63C-BE3B-43F5-9E7D-335E8ABC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867E"/>
                </a:solidFill>
              </a:defRPr>
            </a:pPr>
            <a:r>
              <a:rPr sz="1050" b="1">
                <a:solidFill>
                  <a:srgbClr val="8E867E"/>
                </a:solidFill>
              </a:rPr>
              <a:t>MURMURE · 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706C6-2723-498D-A284-32C54500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E867E"/>
                </a:solidFill>
              </a:defRPr>
            </a:pPr>
            <a:r>
              <a:rPr sz="1200" b="1">
                <a:solidFill>
                  <a:srgbClr val="8E867E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682CC-4000-4400-8C7C-7E7DCA25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5ACA1"/>
                </a:solidFill>
              </a:defRPr>
            </a:pPr>
            <a:r>
              <a:rPr sz="1575">
                <a:solidFill>
                  <a:srgbClr val="B5ACA1"/>
                </a:solidFill>
              </a:rPr>
              <a:t>Everyone gets their own local history and permissions. Do not share your data folder or signing material.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39DE4-D92B-4B1E-BC91-E12546BE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04825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1B88A-D7F6-4E14-898E-2F2946AC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EBE2"/>
                </a:solidFill>
              </a:defRPr>
            </a:pPr>
            <a:r>
              <a:rPr sz="2100" b="1">
                <a:solidFill>
                  <a:srgbClr val="F1EBE2"/>
                </a:solidFill>
              </a:rPr>
              <a:t>A · Download the archive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97397-3933-496C-A72E-27E20742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1719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1  Download dist/Murmure.app.zip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2  Unzip and drag Murmure.app to /Applications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3  Control-click → Open if Gatekeeper asks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4  Grant Microphone + Accessibility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425">
                <a:solidFill>
                  <a:srgbClr val="B5ACA1"/>
                </a:solidFill>
              </a:defRPr>
            </a:pPr>
            <a:r>
              <a:rPr sz="1425">
                <a:solidFill>
                  <a:srgbClr val="B5ACA1"/>
                </a:solidFill>
              </a:rPr>
              <a:t>5  Hold the key and dictate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CA095-09B5-4477-975F-BE41401E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127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1">
                <a:solidFill>
                  <a:srgbClr val="D59A63"/>
                </a:solidFill>
              </a:defRPr>
            </a:pPr>
            <a:r>
              <a:rPr sz="1275" b="1">
                <a:solidFill>
                  <a:srgbClr val="D59A63"/>
                </a:solidFill>
              </a:rPr>
              <a:t>Fastest for a friend. The shared archive is signed but not notarized.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568F3-4F4A-4052-9223-80EA0611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504825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24211F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A6A7-8239-48F8-828F-9B6CBF43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EBE2"/>
                </a:solidFill>
              </a:defRPr>
            </a:pPr>
            <a:r>
              <a:rPr sz="2100" b="1">
                <a:solidFill>
                  <a:srgbClr val="F1EBE2"/>
                </a:solidFill>
              </a:rPr>
              <a:t>B · Ask Codex to install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C6EF6-3913-47A3-9F38-4C1150C1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44386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2111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3BA1A-FF22-42A1-A60C-1FFDF4C0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19450"/>
            <a:ext cx="4019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0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F4F1EC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4F1EC"/>
                </a:solidFill>
                <a:latin typeface="SF Mono"/>
                <a:ea typeface="SF Mono"/>
                <a:cs typeface="SF Mono"/>
              </a:rPr>
              <a:t>Clone https://github.com/filipego/murmure.git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F4F1EC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4F1EC"/>
                </a:solidFill>
                <a:latin typeface="SF Mono"/>
                <a:ea typeface="SF Mono"/>
                <a:cs typeface="SF Mono"/>
              </a:rPr>
              <a:t>Read README.md and AGENTS.md.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F4F1EC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4F1EC"/>
                </a:solidFill>
                <a:latin typeface="SF Mono"/>
                <a:ea typeface="SF Mono"/>
                <a:cs typeface="SF Mono"/>
              </a:rPr>
              <a:t>Use make install, not bare swift build.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F4F1EC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4F1EC"/>
                </a:solidFill>
                <a:latin typeface="SF Mono"/>
                <a:ea typeface="SF Mono"/>
                <a:cs typeface="SF Mono"/>
              </a:rPr>
              <a:t>Ask before writing to /Applications.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F4F1EC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4F1EC"/>
                </a:solidFill>
                <a:latin typeface="SF Mono"/>
                <a:ea typeface="SF Mono"/>
                <a:cs typeface="SF Mono"/>
              </a:rPr>
              <a:t>Do not touch unrelated external files.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F4F1EC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4F1EC"/>
                </a:solidFill>
                <a:latin typeface="SF Mono"/>
                <a:ea typeface="SF Mono"/>
                <a:cs typeface="SF Mono"/>
              </a:rPr>
              <a:t>Explain the two permission steps.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3AAF0-893F-4B8C-96BA-CE0D22C4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673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127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1">
                <a:solidFill>
                  <a:srgbClr val="D59A63"/>
                </a:solidFill>
              </a:defRPr>
            </a:pPr>
            <a:r>
              <a:rPr sz="1275" b="1">
                <a:solidFill>
                  <a:srgbClr val="D59A63"/>
                </a:solidFill>
              </a:rPr>
              <a:t>Codex may request command approval; the friend still grants macOS permissions.</a:t>
            </a:r>
          </a:p>
        </p:txBody>
      </p:sp>
    </p:spTree>
    <p:extLst>
      <p:ext uri="{BB962C8B-B14F-4D97-AF65-F5344CB8AC3E}">
        <p14:creationId xmlns:p14="http://schemas.microsoft.com/office/powerpoint/2010/main" val="1049833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1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5F910F-ECB3-41E2-BDF5-EAB6754F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ACA1"/>
                </a:solidFill>
              </a:defRPr>
            </a:pPr>
            <a:r>
              <a:rPr sz="1125" b="1">
                <a:solidFill>
                  <a:srgbClr val="B5ACA1"/>
                </a:solidFill>
              </a:rPr>
              <a:t>08 · START 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705A8-5C37-40BF-9952-1BCA1722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1EBE2"/>
                </a:solidFill>
              </a:defRPr>
            </a:pPr>
            <a:r>
              <a:rPr sz="3300" b="1">
                <a:solidFill>
                  <a:srgbClr val="F1EBE2"/>
                </a:solidFill>
              </a:rPr>
              <a:t>Your first minute with Murmure.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1A565-65AA-4FD0-A8DF-164873C0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4F837-4406-4962-9D35-CEFBC428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A35"/>
          </a:solidFill>
          <a:ln xmlns:a="http://schemas.openxmlformats.org/drawingml/2006/main" w="0">
            <a:solidFill>
              <a:srgbClr val="403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C2D4F-244F-4215-8CFE-E528253E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867E"/>
                </a:solidFill>
              </a:defRPr>
            </a:pPr>
            <a:r>
              <a:rPr sz="1050" b="1">
                <a:solidFill>
                  <a:srgbClr val="8E867E"/>
                </a:solidFill>
              </a:rPr>
              <a:t>MURMURE · 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A2BE8-21BA-4749-BC09-02B36CBE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E867E"/>
                </a:solidFill>
              </a:defRPr>
            </a:pPr>
            <a:r>
              <a:rPr sz="1200" b="1">
                <a:solidFill>
                  <a:srgbClr val="8E867E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2FA3B-175D-4D9D-AE64-E2D267A5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C1C24-9C03-40B7-BC31-AA8EA4B1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EBE2"/>
                </a:solidFill>
              </a:defRPr>
            </a:pPr>
            <a:r>
              <a:rPr sz="1800" b="1">
                <a:solidFill>
                  <a:srgbClr val="F1EBE2"/>
                </a:solidFill>
              </a:rPr>
              <a:t>Install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18773-D091-4F82-AA59-376AA0B0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5ACA1"/>
                </a:solidFill>
              </a:defRPr>
            </a:pPr>
            <a:r>
              <a:rPr sz="1500">
                <a:solidFill>
                  <a:srgbClr val="B5ACA1"/>
                </a:solidFill>
              </a:rPr>
              <a:t>Download the archive or clone the repo.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E5352-3076-4544-AE5C-388EF867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4DC41-D1A9-4272-B30A-EDFC182C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EBE2"/>
                </a:solidFill>
              </a:defRPr>
            </a:pPr>
            <a:r>
              <a:rPr sz="1800" b="1">
                <a:solidFill>
                  <a:srgbClr val="F1EBE2"/>
                </a:solidFill>
              </a:rPr>
              <a:t>Authorize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A637F-7D96-4E88-9420-781A6F0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57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5ACA1"/>
                </a:solidFill>
              </a:defRPr>
            </a:pPr>
            <a:r>
              <a:rPr sz="1500">
                <a:solidFill>
                  <a:srgbClr val="B5ACA1"/>
                </a:solidFill>
              </a:rPr>
              <a:t>Grant Microphone and Accessibility; restart once.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CACBE-5318-406C-A5B2-486581D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B4541-5988-4AB3-AFA8-D9CDB101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EBE2"/>
                </a:solidFill>
              </a:defRPr>
            </a:pPr>
            <a:r>
              <a:rPr sz="1800" b="1">
                <a:solidFill>
                  <a:srgbClr val="F1EBE2"/>
                </a:solidFill>
              </a:rPr>
              <a:t>Choose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CE371-FEC6-4223-83DC-73BB0514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051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5ACA1"/>
                </a:solidFill>
              </a:defRPr>
            </a:pPr>
            <a:r>
              <a:rPr sz="1500">
                <a:solidFill>
                  <a:srgbClr val="B5ACA1"/>
                </a:solidFill>
              </a:rPr>
              <a:t>Pick a push-to-talk key, engine, and cleanup level.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02EB8-9B58-48A6-B2B8-26665971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39A"/>
          </a:solidFill>
          <a:ln xmlns:a="http://schemas.openxmlformats.org/drawingml/2006/main" w="0">
            <a:solidFill>
              <a:srgbClr val="9AB3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E4E1A-1EAD-4F8E-83C3-0761F4C3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EBE2"/>
                </a:solidFill>
              </a:defRPr>
            </a:pPr>
            <a:r>
              <a:rPr sz="1800" b="1">
                <a:solidFill>
                  <a:srgbClr val="F1EBE2"/>
                </a:solidFill>
              </a:rPr>
              <a:t>Teach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9DD18-1427-4CB8-B5C9-DD57DE5F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528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5ACA1"/>
                </a:solidFill>
              </a:defRPr>
            </a:pPr>
            <a:r>
              <a:rPr sz="1500">
                <a:solidFill>
                  <a:srgbClr val="B5ACA1"/>
                </a:solidFill>
              </a:rPr>
              <a:t>Add names and repeated mishearings to Dictionary.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5AF44-F053-4725-B348-41CB8710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732"/>
          </a:solidFill>
          <a:ln xmlns:a="http://schemas.openxmlformats.org/drawingml/2006/main" w="0">
            <a:solidFill>
              <a:srgbClr val="B447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36AFC-BD9A-482A-B9D0-2AB18969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EBE2"/>
                </a:solidFill>
              </a:defRPr>
            </a:pPr>
            <a:r>
              <a:rPr sz="1800" b="1">
                <a:solidFill>
                  <a:srgbClr val="F1EBE2"/>
                </a:solidFill>
              </a:rPr>
              <a:t>Talk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BCFA5-0F2C-40C8-BF9C-3DB9C47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005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5ACA1"/>
                </a:solidFill>
              </a:defRPr>
            </a:pPr>
            <a:r>
              <a:rPr sz="1500">
                <a:solidFill>
                  <a:srgbClr val="B5ACA1"/>
                </a:solidFill>
              </a:rPr>
              <a:t>Focus a text field, hold, speak, release.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FE979-CCF3-4362-B3E6-603A092F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30289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52220"/>
          </a:solidFill>
          <a:ln xmlns:a="http://schemas.openxmlformats.org/drawingml/2006/main" w="9525">
            <a:solidFill>
              <a:srgbClr val="403A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53EFB-F77A-40EA-8DCC-8208E678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4F1EC"/>
                </a:solidFill>
              </a:defRPr>
            </a:pPr>
            <a:r>
              <a:rPr sz="2700" b="1">
                <a:solidFill>
                  <a:srgbClr val="F4F1EC"/>
                </a:solidFill>
              </a:rPr>
              <a:t>HOLD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2DC17-717C-48D5-822D-6F35E321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4F1EC"/>
                </a:solidFill>
              </a:defRPr>
            </a:pPr>
            <a:r>
              <a:rPr sz="2700" b="1">
                <a:solidFill>
                  <a:srgbClr val="F4F1EC"/>
                </a:solidFill>
              </a:rPr>
              <a:t>SPEAK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2DBFE-93BC-4E1B-A830-149FB73B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44732"/>
                </a:solidFill>
              </a:defRPr>
            </a:pPr>
            <a:r>
              <a:rPr sz="2700" b="1">
                <a:solidFill>
                  <a:srgbClr val="B44732"/>
                </a:solidFill>
              </a:rPr>
              <a:t>RELEASE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8B387-8CE7-4E35-8EED-A75537C0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B39A"/>
                </a:solidFill>
              </a:defRPr>
            </a:pPr>
            <a:r>
              <a:rPr sz="1575" b="1">
                <a:solidFill>
                  <a:srgbClr val="9AB39A"/>
                </a:solidFill>
              </a:rPr>
              <a:t>Read the full install and sharing notes in README.md.</a:t>
            </a:r>
          </a:p>
        </p:txBody>
      </p:sp>
    </p:spTree>
    <p:extLst>
      <p:ext uri="{BB962C8B-B14F-4D97-AF65-F5344CB8AC3E}">
        <p14:creationId xmlns:p14="http://schemas.microsoft.com/office/powerpoint/2010/main" val="788420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2026-08-29T00:24:47.9110000Z</dcterms:created>
  <dcterms:modified xsi:type="dcterms:W3CDTF">2026-08-29T00:24:47.9110000Z</dcterms:modified>
</coreProperties>
</file>